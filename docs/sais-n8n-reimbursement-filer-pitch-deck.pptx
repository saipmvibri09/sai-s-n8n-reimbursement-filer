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10287000" cy="18288000"/>
  <p:embeddedFontLst>
    <p:embeddedFont>
      <p:font typeface="Cormorant Garamon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22" Type="http://schemas.openxmlformats.org/officeDocument/2006/relationships/font" Target="fonts/Inter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rmorantGaramond-regular.fntdata"/><Relationship Id="rId14" Type="http://schemas.openxmlformats.org/officeDocument/2006/relationships/slide" Target="slides/slide10.xml"/><Relationship Id="rId17" Type="http://schemas.openxmlformats.org/officeDocument/2006/relationships/font" Target="fonts/CormorantGaramond-italic.fntdata"/><Relationship Id="rId16" Type="http://schemas.openxmlformats.org/officeDocument/2006/relationships/font" Target="fonts/CormorantGaramond-bold.fntdata"/><Relationship Id="rId5" Type="http://schemas.openxmlformats.org/officeDocument/2006/relationships/slide" Target="slides/slide1.xml"/><Relationship Id="rId19" Type="http://schemas.openxmlformats.org/officeDocument/2006/relationships/font" Target="fonts/Inter-regular.fntdata"/><Relationship Id="rId6" Type="http://schemas.openxmlformats.org/officeDocument/2006/relationships/slide" Target="slides/slide2.xml"/><Relationship Id="rId18" Type="http://schemas.openxmlformats.org/officeDocument/2006/relationships/font" Target="fonts/CormorantGaramon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Portfolio case study: a reimbursement filer that lives inside Google Chat. One action for the employee — send the receipt.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small teams, reimbursement filing is a chain of manual admin steps. The policy is fine — the admin between a receipt and a clean record is the cost.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Reframe: the whole employee interaction should be attach receipt and send. Everything else happens automatically.</a:t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Google Chat-based filer powered by n8n. One clean pipeline. Scope is deliberately tracking, logging, and archival — not a full expense platform.</a:t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message triggers the whole workflow. Show the n8n canvas as the orchestration layer, then the six-step user-level flow underneath.</a:t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interesting engineering is the messy cases. The workflow is designed to fail predictably and protect the records.</a:t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submission becomes an auditable record: Sheets is the ledger, Drive is the proof, Chat is the interface.</a:t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value isn't AI extraction — it's removing operational friction. Meet users where they already are.</a:t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interesting part was designing the workflow, not connecting APIs. Four product principles.</a:t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filer to a lightweight expense workflow. These are deliberately outside V1 — the current product is complete for its job.</a:t>
            </a:r>
            <a:endParaRPr/>
          </a:p>
        </p:txBody>
      </p:sp>
      <p:sp>
        <p:nvSpPr>
          <p:cNvPr id="281" name="Google Shape;2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052019"/>
            <a:ext cx="838200" cy="47700"/>
          </a:xfrm>
          <a:prstGeom prst="roundRect">
            <a:avLst>
              <a:gd fmla="val 50000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42963" y="1586894"/>
            <a:ext cx="9591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N8N · PRODUCT CASE STUDY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2748707"/>
            <a:ext cx="5840232" cy="30988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780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5850"/>
              <a:buFont typeface="Georgia"/>
              <a:buNone/>
            </a:pPr>
            <a:r>
              <a:rPr b="0" i="0" lang="en-US" sz="4500" u="none" cap="none" strike="noStrike">
                <a:solidFill>
                  <a:srgbClr val="141413"/>
                </a:solidFill>
                <a:latin typeface="Georgia"/>
                <a:ea typeface="Georgia"/>
                <a:cs typeface="Georgia"/>
                <a:sym typeface="Georgia"/>
              </a:rPr>
              <a:t>I built a reimbursement filer that lives inside Google Chat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2975" y="6269831"/>
            <a:ext cx="74271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Upload a receipt. AI extracts the details, duplicates are caught, the proof is archived, and the reimbursement tracking</a:t>
            </a:r>
            <a:r>
              <a:rPr lang="en-US" sz="2250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22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is logged</a:t>
            </a:r>
            <a:r>
              <a:rPr lang="en-US" sz="2250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22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automatically.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8487031"/>
            <a:ext cx="95910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6C6A64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C6A64"/>
                </a:solidFill>
                <a:latin typeface="Inter"/>
                <a:ea typeface="Inter"/>
                <a:cs typeface="Inter"/>
                <a:sym typeface="Inter"/>
              </a:rPr>
              <a:t>Built with </a:t>
            </a: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n8n · Google Chat · OpenAI · Google Drive · Google Sheets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700370" y="3312319"/>
            <a:ext cx="6444630" cy="3328988"/>
          </a:xfrm>
          <a:prstGeom prst="roundRect">
            <a:avLst>
              <a:gd fmla="val 4578" name="adj"/>
            </a:avLst>
          </a:prstGeom>
          <a:solidFill>
            <a:srgbClr val="FFFFFF"/>
          </a:solidFill>
          <a:ln cap="flat" cmpd="sng" w="9525">
            <a:solidFill>
              <a:srgbClr val="E6DFD8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14141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0709895" y="4183856"/>
            <a:ext cx="642558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957545" y="3562350"/>
            <a:ext cx="381000" cy="381000"/>
          </a:xfrm>
          <a:prstGeom prst="ellipse">
            <a:avLst/>
          </a:prstGeom>
          <a:solidFill>
            <a:srgbClr val="EFE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919445" y="3562350"/>
            <a:ext cx="457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471895" y="3531394"/>
            <a:ext cx="21618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Bot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1471895" y="3788569"/>
            <a:ext cx="2161803" cy="223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DB8A6"/>
                </a:solidFill>
                <a:latin typeface="Inter"/>
                <a:ea typeface="Inter"/>
                <a:cs typeface="Inter"/>
                <a:sym typeface="Inter"/>
              </a:rPr>
              <a:t>● Online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709895" y="4193381"/>
            <a:ext cx="6425580" cy="24384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4724087" y="4441031"/>
            <a:ext cx="2163738" cy="561975"/>
          </a:xfrm>
          <a:custGeom>
            <a:rect b="b" l="l" r="r" t="t"/>
            <a:pathLst>
              <a:path extrusionOk="0" h="561975" w="2163738">
                <a:moveTo>
                  <a:pt x="152400" y="0"/>
                </a:moveTo>
                <a:lnTo>
                  <a:pt x="2011338" y="0"/>
                </a:lnTo>
                <a:cubicBezTo>
                  <a:pt x="2051757" y="0"/>
                  <a:pt x="2090521" y="16056"/>
                  <a:pt x="2119101" y="44637"/>
                </a:cubicBezTo>
                <a:cubicBezTo>
                  <a:pt x="2147682" y="73217"/>
                  <a:pt x="2163738" y="111981"/>
                  <a:pt x="2163738" y="152400"/>
                </a:cubicBezTo>
                <a:lnTo>
                  <a:pt x="2163738" y="523875"/>
                </a:lnTo>
                <a:cubicBezTo>
                  <a:pt x="2163738" y="544917"/>
                  <a:pt x="2146680" y="561975"/>
                  <a:pt x="2125638" y="561975"/>
                </a:cubicBezTo>
                <a:lnTo>
                  <a:pt x="152400" y="561975"/>
                </a:lnTo>
                <a:cubicBezTo>
                  <a:pt x="68232" y="561975"/>
                  <a:pt x="0" y="493743"/>
                  <a:pt x="0" y="4095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181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4914587" y="4593431"/>
            <a:ext cx="18589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Reimburse this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4724087" y="5079206"/>
            <a:ext cx="2163738" cy="571500"/>
          </a:xfrm>
          <a:prstGeom prst="roundRect">
            <a:avLst>
              <a:gd fmla="val 20000" name="adj"/>
            </a:avLst>
          </a:prstGeom>
          <a:solidFill>
            <a:srgbClr val="EFE9DE"/>
          </a:solidFill>
          <a:ln cap="flat" cmpd="sng" w="9525">
            <a:solidFill>
              <a:srgbClr val="E6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4886012" y="5203031"/>
            <a:ext cx="323850" cy="323850"/>
          </a:xfrm>
          <a:prstGeom prst="roundRect">
            <a:avLst>
              <a:gd fmla="val 23529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4847912" y="5203031"/>
            <a:ext cx="400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PDF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5324162" y="5255419"/>
            <a:ext cx="15419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uber-receipt.pdf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957545" y="5822156"/>
            <a:ext cx="4024313" cy="561975"/>
          </a:xfrm>
          <a:custGeom>
            <a:rect b="b" l="l" r="r" t="t"/>
            <a:pathLst>
              <a:path extrusionOk="0" h="561975" w="4024313">
                <a:moveTo>
                  <a:pt x="152400" y="0"/>
                </a:moveTo>
                <a:lnTo>
                  <a:pt x="3871913" y="0"/>
                </a:lnTo>
                <a:cubicBezTo>
                  <a:pt x="3912332" y="0"/>
                  <a:pt x="3951096" y="16056"/>
                  <a:pt x="3979676" y="44637"/>
                </a:cubicBezTo>
                <a:cubicBezTo>
                  <a:pt x="4008257" y="73217"/>
                  <a:pt x="4024313" y="111981"/>
                  <a:pt x="4024313" y="152400"/>
                </a:cubicBezTo>
                <a:lnTo>
                  <a:pt x="4024313" y="409575"/>
                </a:lnTo>
                <a:cubicBezTo>
                  <a:pt x="4024313" y="493743"/>
                  <a:pt x="3956081" y="561975"/>
                  <a:pt x="3871913" y="561975"/>
                </a:cubicBezTo>
                <a:lnTo>
                  <a:pt x="38100" y="561975"/>
                </a:lnTo>
                <a:cubicBezTo>
                  <a:pt x="17058" y="561975"/>
                  <a:pt x="0" y="544917"/>
                  <a:pt x="0" y="5238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EFE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1148045" y="5974556"/>
            <a:ext cx="23633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A6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5DB8A6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1403434" y="5974556"/>
            <a:ext cx="34895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filed successfully.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6927562" y="9496425"/>
            <a:ext cx="2936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71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43000" y="1185863"/>
            <a:ext cx="6963410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046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650"/>
              <a:buFont typeface="Cormorant Garamond"/>
              <a:buNone/>
            </a:pPr>
            <a:r>
              <a:rPr lang="en-US" sz="4650">
                <a:solidFill>
                  <a:srgbClr val="FA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Manual filing &amp; tracking process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349150" y="2936575"/>
            <a:ext cx="2437200" cy="604800"/>
          </a:xfrm>
          <a:prstGeom prst="roundRect">
            <a:avLst>
              <a:gd fmla="val 1574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349175" y="3079375"/>
            <a:ext cx="2437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Print Receipts / Bills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43000" y="4809530"/>
            <a:ext cx="15776" cy="1706761"/>
          </a:xfrm>
          <a:prstGeom prst="roundRect">
            <a:avLst>
              <a:gd fmla="val 49999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425476" y="4809530"/>
            <a:ext cx="6640958" cy="1744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64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The policy was never the problem. The cost is the administrative work between a receipt arriving and a clean, auditable record existing.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6884997" y="9496425"/>
            <a:ext cx="3362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270055" y="3069917"/>
            <a:ext cx="3240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25875" y="2936574"/>
            <a:ext cx="2718600" cy="604800"/>
          </a:xfrm>
          <a:prstGeom prst="roundRect">
            <a:avLst>
              <a:gd fmla="val 1574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534388" y="3007976"/>
            <a:ext cx="2437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Fill expense details in a sheet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719625" y="2936575"/>
            <a:ext cx="2437200" cy="604800"/>
          </a:xfrm>
          <a:prstGeom prst="roundRect">
            <a:avLst>
              <a:gd fmla="val 1574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944400" y="2936575"/>
            <a:ext cx="20607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Attach print outs</a:t>
            </a:r>
            <a:b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 as proof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2878075" y="2936575"/>
            <a:ext cx="2060700" cy="604800"/>
          </a:xfrm>
          <a:prstGeom prst="roundRect">
            <a:avLst>
              <a:gd fmla="val 1574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3050950" y="2936575"/>
            <a:ext cx="18879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Submit bills for reimbursement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2355455" y="3069917"/>
            <a:ext cx="3240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944118" y="3069917"/>
            <a:ext cx="3240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500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REFRAME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43000" y="1166813"/>
            <a:ext cx="7300348" cy="12495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724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4500"/>
              <a:buFont typeface="Cormorant Garamond"/>
              <a:buNone/>
            </a:pPr>
            <a:r>
              <a:rPr b="0" i="0" lang="en-US" sz="4500" u="none" cap="none" strike="noStrike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What if filing a reimbursement felt like sending a </a:t>
            </a:r>
            <a:r>
              <a:rPr lang="en-US" sz="4500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text</a:t>
            </a:r>
            <a:r>
              <a:rPr b="0" i="0" lang="en-US" sz="4500" u="none" cap="none" strike="noStrike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143000" y="2835473"/>
            <a:ext cx="7829550" cy="6356152"/>
          </a:xfrm>
          <a:prstGeom prst="roundRect">
            <a:avLst>
              <a:gd fmla="val 2398" name="adj"/>
            </a:avLst>
          </a:prstGeom>
          <a:solidFill>
            <a:srgbClr val="EFE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600200" y="3292673"/>
            <a:ext cx="760666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A64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6C6A64"/>
                </a:solidFill>
                <a:latin typeface="Inter"/>
                <a:ea typeface="Inter"/>
                <a:cs typeface="Inter"/>
                <a:sym typeface="Inter"/>
              </a:rPr>
              <a:t>BEFORE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600200" y="3754636"/>
            <a:ext cx="7606665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Open another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600200" y="4260354"/>
            <a:ext cx="7606665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Fill out a reimbursement form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600200" y="4766072"/>
            <a:ext cx="7606665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Re-enter what's already on the receipt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600200" y="5271790"/>
            <a:ext cx="7606665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Decide where the proof gets stored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600200" y="5777508"/>
            <a:ext cx="7606665" cy="372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Keep the tracking sheet up to date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315450" y="2835473"/>
            <a:ext cx="7829550" cy="6356152"/>
          </a:xfrm>
          <a:prstGeom prst="roundRect">
            <a:avLst>
              <a:gd fmla="val 2398" name="adj"/>
            </a:avLst>
          </a:prstGeom>
          <a:solidFill>
            <a:srgbClr val="181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614525" y="3292672"/>
            <a:ext cx="7606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AFTER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772650" y="5250210"/>
            <a:ext cx="293288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3900"/>
              <a:buFont typeface="Cormorant Garamond"/>
              <a:buNone/>
            </a:pPr>
            <a:r>
              <a:rPr b="0" i="0" lang="en-US" sz="3900" u="none" cap="none" strike="noStrike">
                <a:solidFill>
                  <a:srgbClr val="FA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Attach receipt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2629406" y="5297835"/>
            <a:ext cx="4953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3300"/>
              <a:buFont typeface="Inter"/>
              <a:buNone/>
            </a:pPr>
            <a:r>
              <a:rPr b="0" i="0" lang="en-US" sz="330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3239002" y="5250200"/>
            <a:ext cx="2425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3900"/>
              <a:buFont typeface="Cormorant Garamond"/>
              <a:buNone/>
            </a:pPr>
            <a:r>
              <a:rPr lang="en-US" sz="3900">
                <a:solidFill>
                  <a:srgbClr val="FA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Text the bot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9772650" y="6116985"/>
            <a:ext cx="5892122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Everything else — extraction, storage, logging, filing confirmation — happens automatically.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6883360" y="9496425"/>
            <a:ext cx="33784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71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143000" y="1166813"/>
            <a:ext cx="7861936" cy="1855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724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0"/>
              <a:buFont typeface="Cormorant Garamond"/>
              <a:buNone/>
            </a:pPr>
            <a:r>
              <a:rPr b="0" i="0" lang="en-US" sz="4500" u="none" cap="none" strike="noStrike">
                <a:solidFill>
                  <a:srgbClr val="FA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 Google Chat–based reimbursement filer, powered by n8n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43000" y="3593604"/>
            <a:ext cx="2605980" cy="1157288"/>
          </a:xfrm>
          <a:prstGeom prst="roundRect">
            <a:avLst>
              <a:gd fmla="val 11523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362075" y="3869829"/>
            <a:ext cx="238461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INTERFACE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362075" y="4165104"/>
            <a:ext cx="2384614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Google Chat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920430" y="3593604"/>
            <a:ext cx="361950" cy="119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377630" y="3593604"/>
            <a:ext cx="2606055" cy="1157288"/>
          </a:xfrm>
          <a:prstGeom prst="roundRect">
            <a:avLst>
              <a:gd fmla="val 11523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596705" y="3869829"/>
            <a:ext cx="2384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ORCHESTRATION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96705" y="4165104"/>
            <a:ext cx="2384695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n8n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155135" y="3593604"/>
            <a:ext cx="361950" cy="119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612335" y="3593604"/>
            <a:ext cx="2606055" cy="1157288"/>
          </a:xfrm>
          <a:prstGeom prst="roundRect">
            <a:avLst>
              <a:gd fmla="val 11523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831410" y="3869829"/>
            <a:ext cx="2384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AI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831410" y="4165104"/>
            <a:ext cx="2384695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Extraction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389840" y="3593604"/>
            <a:ext cx="361950" cy="119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0847040" y="3593604"/>
            <a:ext cx="2606055" cy="1157288"/>
          </a:xfrm>
          <a:prstGeom prst="roundRect">
            <a:avLst>
              <a:gd fmla="val 11523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1066115" y="3869829"/>
            <a:ext cx="2384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CHECK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066115" y="4165104"/>
            <a:ext cx="2384695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Duplicates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3624545" y="3593604"/>
            <a:ext cx="361950" cy="119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4081745" y="3593604"/>
            <a:ext cx="2606055" cy="1157288"/>
          </a:xfrm>
          <a:prstGeom prst="roundRect">
            <a:avLst>
              <a:gd fmla="val 11523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4300820" y="3869829"/>
            <a:ext cx="238469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STORE + LOG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4300820" y="4165104"/>
            <a:ext cx="2384695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Drive + Sheets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6859250" y="3593604"/>
            <a:ext cx="361950" cy="119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2250"/>
              <a:buFont typeface="Inter"/>
              <a:buNone/>
            </a:pPr>
            <a:r>
              <a:rPr b="0" i="0" lang="en-US" sz="22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143000" y="4922341"/>
            <a:ext cx="16002000" cy="1138238"/>
          </a:xfrm>
          <a:prstGeom prst="roundRect">
            <a:avLst>
              <a:gd fmla="val 11715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1352550" y="5189041"/>
            <a:ext cx="171411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Inter"/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REPLY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352550" y="5484316"/>
            <a:ext cx="1714119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Confirmation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43000" y="6670179"/>
            <a:ext cx="23217" cy="1159966"/>
          </a:xfrm>
          <a:prstGeom prst="roundRect">
            <a:avLst>
              <a:gd fmla="val 50000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432917" y="6670179"/>
            <a:ext cx="7029402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Scope, on purpose: </a:t>
            </a:r>
            <a:r>
              <a:rPr b="0" i="0" lang="en-US" sz="21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tracking, logging, and proof archival. Not a full expense-management or approval platform</a:t>
            </a:r>
            <a:r>
              <a:rPr lang="en-US" sz="2100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 (for the V1 proto)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6877407" y="9496425"/>
            <a:ext cx="3437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1143000" y="795338"/>
            <a:ext cx="899100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143000" y="1162050"/>
            <a:ext cx="8991005" cy="5927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281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4200"/>
              <a:buFont typeface="Cormorant Garamond"/>
              <a:buNone/>
            </a:pPr>
            <a:r>
              <a:rPr b="0" i="0" lang="en-US" sz="4200" u="none" cap="none" strike="noStrike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One message</a:t>
            </a:r>
            <a:r>
              <a:rPr lang="en-US" sz="4200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</a:t>
            </a:r>
            <a:r>
              <a:rPr b="0" i="0" lang="en-US" sz="4200" u="none" cap="none" strike="noStrike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triggers the entire workflow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2121530" y="762000"/>
            <a:ext cx="5174174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6C6A64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6C6A64"/>
                </a:solidFill>
                <a:latin typeface="Inter"/>
                <a:ea typeface="Inter"/>
                <a:cs typeface="Inter"/>
                <a:sym typeface="Inter"/>
              </a:rPr>
              <a:t>Behind the scenes, n8n orchestrates file handling, extraction, duplicate detection, archival, logging, and confirmation.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43000" y="1983432"/>
            <a:ext cx="16002000" cy="6350943"/>
          </a:xfrm>
          <a:prstGeom prst="roundRect">
            <a:avLst>
              <a:gd fmla="val 2400" name="adj"/>
            </a:avLst>
          </a:prstGeom>
          <a:solidFill>
            <a:srgbClr val="EFE9DE"/>
          </a:solidFill>
          <a:ln cap="flat" cmpd="sng" w="9525">
            <a:solidFill>
              <a:srgbClr val="E6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-4395"/>
          <a:stretch/>
        </p:blipFill>
        <p:spPr>
          <a:xfrm>
            <a:off x="1217075" y="3510150"/>
            <a:ext cx="15927923" cy="31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1143000" y="8601075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1 · Submit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143000" y="8934450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Send the receipt to the bot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835375" y="8601075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2 · Understand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835375" y="8934450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AI extracts every field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527750" y="8601075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3 · Validate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527750" y="8934450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Check for a duplicate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220126" y="8601075"/>
            <a:ext cx="27940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4 · Archive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220126" y="8934450"/>
            <a:ext cx="27940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Store proof in Drive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1912575" y="8601075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5 · Log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912575" y="8934450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Append a row to Sheets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4604950" y="8601075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6 · Confirm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4604950" y="8934450"/>
            <a:ext cx="27939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Reply back in Chat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6888420" y="9496425"/>
            <a:ext cx="3327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71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INTELLIGENCE &amp; GUARDRAILS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143000" y="1166813"/>
            <a:ext cx="7056995" cy="1209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29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350"/>
              <a:buFont typeface="Cormorant Garamond"/>
              <a:buNone/>
            </a:pPr>
            <a:r>
              <a:rPr b="0" i="0" lang="en-US" sz="4350" u="none" cap="none" strike="noStrike">
                <a:solidFill>
                  <a:srgbClr val="FA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Automation is useful only when it handles the messy cases too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143000" y="3789387"/>
            <a:ext cx="3871913" cy="1462088"/>
          </a:xfrm>
          <a:prstGeom prst="roundRect">
            <a:avLst>
              <a:gd fmla="val 781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419225" y="4065612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No receipt attached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419225" y="4441850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Asks the user to attach 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186363" y="3789387"/>
            <a:ext cx="3871913" cy="1462088"/>
          </a:xfrm>
          <a:prstGeom prst="roundRect">
            <a:avLst>
              <a:gd fmla="val 781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5462588" y="4065612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Unsupported format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62588" y="4441850"/>
            <a:ext cx="341904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Politely rejected — PDF, PNG, JPG only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9229725" y="3789387"/>
            <a:ext cx="3871913" cy="1462088"/>
          </a:xfrm>
          <a:prstGeom prst="roundRect">
            <a:avLst>
              <a:gd fmla="val 781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9505950" y="4065612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Multiple receipts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9505950" y="4441850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Each processed independently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3273088" y="3789387"/>
            <a:ext cx="3871913" cy="1462088"/>
          </a:xfrm>
          <a:prstGeom prst="roundRect">
            <a:avLst>
              <a:gd fmla="val 7818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3549313" y="4065612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Right AI path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3549313" y="4441850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PDFs and images routed correctly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143000" y="5422925"/>
            <a:ext cx="3871913" cy="1195388"/>
          </a:xfrm>
          <a:prstGeom prst="roundRect">
            <a:avLst>
              <a:gd fmla="val 9562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419225" y="5699150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Duplicate detected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419225" y="6075387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Caught before a new record is made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186363" y="5422925"/>
            <a:ext cx="3871913" cy="1195388"/>
          </a:xfrm>
          <a:prstGeom prst="roundRect">
            <a:avLst>
              <a:gd fmla="val 9562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5462588" y="5699150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No double upload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462588" y="6075387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Duplicate proof isn't re-stored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229725" y="5422925"/>
            <a:ext cx="3871913" cy="1195388"/>
          </a:xfrm>
          <a:prstGeom prst="roundRect">
            <a:avLst>
              <a:gd fmla="val 9562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9505950" y="5699150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Proof stays linked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9505950" y="6075387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Receipt tied to its record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3273088" y="5422925"/>
            <a:ext cx="3871913" cy="1195388"/>
          </a:xfrm>
          <a:prstGeom prst="roundRect">
            <a:avLst>
              <a:gd fmla="val 9562" name="adj"/>
            </a:avLst>
          </a:prstGeom>
          <a:solidFill>
            <a:srgbClr val="201E1B"/>
          </a:solidFill>
          <a:ln cap="flat" cmpd="sng" w="9525">
            <a:solidFill>
              <a:srgbClr val="2E2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3549313" y="5699150"/>
            <a:ext cx="365140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Structured 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3549313" y="6075387"/>
            <a:ext cx="365140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Keeps the sheet consistent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43000" y="8031659"/>
            <a:ext cx="22473" cy="1159966"/>
          </a:xfrm>
          <a:prstGeom prst="roundRect">
            <a:avLst>
              <a:gd fmla="val 50000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432173" y="8031659"/>
            <a:ext cx="7228223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The workflow was designed to fail predictably and protect the underlying records — not just automate the happy path.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6882839" y="9496425"/>
            <a:ext cx="3383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WHAT THE SYSTEM CREATES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143000" y="1166813"/>
            <a:ext cx="7056995" cy="1187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171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4350"/>
              <a:buFont typeface="Cormorant Garamond"/>
              <a:buNone/>
            </a:pPr>
            <a:r>
              <a:rPr b="0" i="0" lang="en-US" sz="4350" u="none" cap="none" strike="noStrike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Every submission becomes an auditable record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143000" y="2734874"/>
            <a:ext cx="9372600" cy="5725500"/>
          </a:xfrm>
          <a:prstGeom prst="roundRect">
            <a:avLst>
              <a:gd fmla="val 2360" name="adj"/>
            </a:avLst>
          </a:prstGeom>
          <a:solidFill>
            <a:srgbClr val="FFFFFF"/>
          </a:solidFill>
          <a:ln cap="flat" cmpd="sng" w="9525">
            <a:solidFill>
              <a:srgbClr val="E6DF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152525" y="2744391"/>
            <a:ext cx="9353550" cy="609600"/>
          </a:xfrm>
          <a:prstGeom prst="rect">
            <a:avLst/>
          </a:prstGeom>
          <a:solidFill>
            <a:srgbClr val="EFE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152525" y="3344466"/>
            <a:ext cx="9353550" cy="9525"/>
          </a:xfrm>
          <a:prstGeom prst="rect">
            <a:avLst/>
          </a:prstGeom>
          <a:solidFill>
            <a:srgbClr val="E6DF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400175" y="2920603"/>
            <a:ext cx="247650" cy="247650"/>
          </a:xfrm>
          <a:prstGeom prst="roundRect">
            <a:avLst>
              <a:gd fmla="val 23077" name="adj"/>
            </a:avLst>
          </a:prstGeom>
          <a:solidFill>
            <a:srgbClr val="0F9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1762125" y="2915841"/>
            <a:ext cx="271711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reimbursements · Sheet1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152525" y="3944541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1400175" y="3515916"/>
            <a:ext cx="10883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Employee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617669" y="3515916"/>
            <a:ext cx="180483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Sai Phaneendra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152525" y="3954066"/>
            <a:ext cx="9353550" cy="600075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152525" y="4544616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400175" y="4115991"/>
            <a:ext cx="10595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Merchant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9747424" y="4115991"/>
            <a:ext cx="5872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Uber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152525" y="5144691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400175" y="4716066"/>
            <a:ext cx="154215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Expense date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987805" y="4716066"/>
            <a:ext cx="139768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16 Apr 2026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152525" y="5154216"/>
            <a:ext cx="9353550" cy="600075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152525" y="5744766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400175" y="5316141"/>
            <a:ext cx="88128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Amount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436075" y="5316141"/>
            <a:ext cx="898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₹561.99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152525" y="6344841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1400175" y="5916216"/>
            <a:ext cx="10312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Category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617497" y="5916216"/>
            <a:ext cx="7171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Travel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52525" y="6354366"/>
            <a:ext cx="9353550" cy="600075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152525" y="6944916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400175" y="6516291"/>
            <a:ext cx="192671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Payment method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895954" y="6516291"/>
            <a:ext cx="43867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UPI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152525" y="7544991"/>
            <a:ext cx="9353550" cy="9525"/>
          </a:xfrm>
          <a:prstGeom prst="rect">
            <a:avLst/>
          </a:prstGeom>
          <a:solidFill>
            <a:srgbClr val="EEE9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1400175" y="7116366"/>
            <a:ext cx="15794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AI confidence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9778157" y="7116366"/>
            <a:ext cx="55646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B8A6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5DB8A6"/>
                </a:solidFill>
                <a:latin typeface="Inter"/>
                <a:ea typeface="Inter"/>
                <a:cs typeface="Inter"/>
                <a:sym typeface="Inter"/>
              </a:rPr>
              <a:t>0.95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400175" y="7716441"/>
            <a:ext cx="85345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Receipt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9007822" y="7716441"/>
            <a:ext cx="137566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CC785C"/>
                </a:solidFill>
                <a:latin typeface="Inter"/>
                <a:ea typeface="Inter"/>
                <a:cs typeface="Inter"/>
                <a:sym typeface="Inter"/>
              </a:rPr>
              <a:t>Drive link ↗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0896600" y="2734866"/>
            <a:ext cx="6248400" cy="1999804"/>
          </a:xfrm>
          <a:prstGeom prst="roundRect">
            <a:avLst>
              <a:gd fmla="val 7621" name="adj"/>
            </a:avLst>
          </a:prstGeom>
          <a:solidFill>
            <a:srgbClr val="EFE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1201400" y="3165202"/>
            <a:ext cx="419100" cy="419100"/>
          </a:xfrm>
          <a:prstGeom prst="roundRect">
            <a:avLst>
              <a:gd fmla="val 20455" name="adj"/>
            </a:avLst>
          </a:prstGeom>
          <a:solidFill>
            <a:srgbClr val="0F9D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11163300" y="3165202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1753850" y="3224733"/>
            <a:ext cx="9033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Sheets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11201400" y="3717652"/>
            <a:ext cx="5807964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The structured ledger — one clean row per reimbursement.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0896600" y="4963269"/>
            <a:ext cx="6248400" cy="1999878"/>
          </a:xfrm>
          <a:prstGeom prst="roundRect">
            <a:avLst>
              <a:gd fmla="val 7620" name="adj"/>
            </a:avLst>
          </a:prstGeom>
          <a:solidFill>
            <a:srgbClr val="EFE9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1201400" y="5540276"/>
            <a:ext cx="419100" cy="419100"/>
          </a:xfrm>
          <a:prstGeom prst="roundRect">
            <a:avLst>
              <a:gd fmla="val 20455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11163300" y="5540276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1753850" y="5599807"/>
            <a:ext cx="70700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Drive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1201400" y="6092726"/>
            <a:ext cx="620268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The source of proof — the original receipt, archived.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0896600" y="7191747"/>
            <a:ext cx="6248400" cy="1999878"/>
          </a:xfrm>
          <a:prstGeom prst="roundRect">
            <a:avLst>
              <a:gd fmla="val 7620" name="adj"/>
            </a:avLst>
          </a:prstGeom>
          <a:solidFill>
            <a:srgbClr val="181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11201400" y="7768754"/>
            <a:ext cx="419100" cy="419100"/>
          </a:xfrm>
          <a:prstGeom prst="roundRect">
            <a:avLst>
              <a:gd fmla="val 20455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11163300" y="7768754"/>
            <a:ext cx="4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1753850" y="7828285"/>
            <a:ext cx="639961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Chat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1201400" y="8321204"/>
            <a:ext cx="6202680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The employee-facing interfac</a:t>
            </a:r>
            <a:r>
              <a:rPr lang="en-US" sz="1650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6898243" y="9496425"/>
            <a:ext cx="3229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785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969800" y="1026055"/>
            <a:ext cx="176022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THIS MATTERS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143000" y="2092418"/>
            <a:ext cx="74127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Cormorant Garamond"/>
              <a:buNone/>
            </a:pPr>
            <a:r>
              <a:rPr b="0" i="0" lang="en-US" sz="4950" u="none" cap="none" strike="noStrike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Move the workflow to where users already are, instead of asking users to move to another workflow.</a:t>
            </a:r>
            <a:endParaRPr b="0" i="0" sz="4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143000" y="5691089"/>
            <a:ext cx="5130900" cy="960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1143000" y="5929214"/>
            <a:ext cx="5643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Employees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143000" y="6262589"/>
            <a:ext cx="56439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Near-zero effort, no forms, instant 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filing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Saves time.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578575" y="5691089"/>
            <a:ext cx="5130900" cy="960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578575" y="5929214"/>
            <a:ext cx="5643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Finance &amp; ops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578575" y="6262589"/>
            <a:ext cx="52848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data, centralized proof, fewer duplicates to chase.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2014150" y="5691089"/>
            <a:ext cx="5130900" cy="9600"/>
          </a:xfrm>
          <a:prstGeom prst="rect">
            <a:avLst/>
          </a:prstGeom>
          <a:solidFill>
            <a:srgbClr val="FFFFFF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12014150" y="5929214"/>
            <a:ext cx="5643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2014150" y="6262589"/>
            <a:ext cx="52848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0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Built on Workspace tools already in use — no new app.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Reimbursement Filer 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6883137" y="9496425"/>
            <a:ext cx="3380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5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PRODUCT TAKEAWAYS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143000" y="1166825"/>
            <a:ext cx="90747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171"/>
              </a:lnSpc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4350"/>
              <a:buFont typeface="Cormorant Garamond"/>
              <a:buNone/>
            </a:pPr>
            <a:r>
              <a:rPr b="0" i="0" lang="en-US" sz="4350" u="none" cap="none" strike="noStrike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hard part wasn't connecting APIs </a:t>
            </a:r>
            <a:r>
              <a:rPr lang="en-US" sz="4350">
                <a:solidFill>
                  <a:srgbClr val="141413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but planning, designing, &amp; iterating the workflow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1143000" y="3861792"/>
            <a:ext cx="48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963"/>
              </a:lnSpc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4200"/>
              <a:buFont typeface="Cormorant Garamond"/>
              <a:buNone/>
            </a:pPr>
            <a:r>
              <a:rPr b="0" i="0" lang="en-US" sz="4200" u="none" cap="none" strike="noStrike">
                <a:solidFill>
                  <a:srgbClr val="CC785C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784077" y="3861792"/>
            <a:ext cx="7928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Start with the interaction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784077" y="4261842"/>
            <a:ext cx="74238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The whole product was designed around one </a:t>
            </a:r>
            <a:b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action: send the receipt.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9296400" y="3861792"/>
            <a:ext cx="52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963"/>
              </a:lnSpc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4200"/>
              <a:buFont typeface="Cormorant Garamond"/>
              <a:buNone/>
            </a:pPr>
            <a:r>
              <a:rPr b="0" i="0" lang="en-US" sz="4200" u="none" cap="none" strike="noStrike">
                <a:solidFill>
                  <a:srgbClr val="CC785C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9974833" y="3861792"/>
            <a:ext cx="7887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Keep AI narrow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9974833" y="4261842"/>
            <a:ext cx="73854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AI interprets and extracts. Deterministic logic handles validation, routing, storage, and records.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143000" y="6917234"/>
            <a:ext cx="51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963"/>
              </a:lnSpc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4200"/>
              <a:buFont typeface="Cormorant Garamond"/>
              <a:buNone/>
            </a:pPr>
            <a:r>
              <a:rPr b="0" i="0" lang="en-US" sz="4200" u="none" cap="none" strike="noStrike">
                <a:solidFill>
                  <a:srgbClr val="CC785C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03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815405" y="6917234"/>
            <a:ext cx="7893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Design for exceptions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815405" y="7317284"/>
            <a:ext cx="73914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Duplicate, unsupported, missing, and multi-file cases are </a:t>
            </a:r>
            <a:b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where the value shows up.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9296400" y="6917234"/>
            <a:ext cx="553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963"/>
              </a:lnSpc>
              <a:spcBef>
                <a:spcPts val="0"/>
              </a:spcBef>
              <a:spcAft>
                <a:spcPts val="0"/>
              </a:spcAft>
              <a:buClr>
                <a:srgbClr val="CC785C"/>
              </a:buClr>
              <a:buSzPts val="4200"/>
              <a:buFont typeface="Cormorant Garamond"/>
              <a:buNone/>
            </a:pPr>
            <a:r>
              <a:rPr b="0" i="0" lang="en-US" sz="4200" u="none" cap="none" strike="noStrike">
                <a:solidFill>
                  <a:srgbClr val="CC785C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04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0001920" y="6917234"/>
            <a:ext cx="7857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Avoid scope creep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0001920" y="7317284"/>
            <a:ext cx="73575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107"/>
              </a:lnSpc>
              <a:spcBef>
                <a:spcPts val="0"/>
              </a:spcBef>
              <a:spcAft>
                <a:spcPts val="0"/>
              </a:spcAft>
              <a:buClr>
                <a:srgbClr val="3D3D3A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Approvals and payouts can come later. V1 </a:t>
            </a:r>
            <a:r>
              <a:rPr lang="en-US" sz="1725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scoped to solve only the core flows.</a:t>
            </a:r>
            <a:r>
              <a:rPr b="0" i="0" lang="en-US" sz="1725" u="none" cap="none" strike="noStrike">
                <a:solidFill>
                  <a:srgbClr val="3D3D3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3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141413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6882839" y="9496425"/>
            <a:ext cx="3383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B82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8E8B82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71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1143000" y="762000"/>
            <a:ext cx="17602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WHAT'S NEXT (FUTURE SCOPE </a:t>
            </a:r>
            <a:r>
              <a:rPr lang="en-US" sz="1500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/ V2)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1143000" y="1444638"/>
            <a:ext cx="70569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829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350"/>
              <a:buFont typeface="Cormorant Garamond"/>
              <a:buNone/>
            </a:pPr>
            <a:r>
              <a:rPr b="0" i="0" lang="en-US" sz="4350" u="none" cap="none" strike="noStrike">
                <a:solidFill>
                  <a:srgbClr val="FAF9F5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From reimbursement filer to lightweight expense workflow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143000" y="450473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1143000" y="466665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Approval in Google Chat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219700" y="450473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219700" y="466665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Approve / reject actions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9296400" y="450473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9296400" y="466665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Status 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3373100" y="450473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13373100" y="466665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Reimbursement history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143000" y="528005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1143000" y="544197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Policy-rule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219700" y="528005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5219700" y="544197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For </a:t>
            </a: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finance</a:t>
            </a: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 / admins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9296400" y="528005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9296400" y="5441975"/>
            <a:ext cx="3885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Notifications &amp; Confirmation </a:t>
            </a:r>
            <a:b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mails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3373100" y="5280050"/>
            <a:ext cx="3771900" cy="9525"/>
          </a:xfrm>
          <a:prstGeom prst="rect">
            <a:avLst/>
          </a:prstGeom>
          <a:solidFill>
            <a:srgbClr val="2E2C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3373100" y="5441975"/>
            <a:ext cx="3885057" cy="3466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83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Analytics by category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143000" y="8031659"/>
            <a:ext cx="21431" cy="1159966"/>
          </a:xfrm>
          <a:prstGeom prst="roundRect">
            <a:avLst>
              <a:gd fmla="val 50001" name="adj"/>
            </a:avLst>
          </a:prstGeom>
          <a:solidFill>
            <a:srgbClr val="CC7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1431131" y="8031659"/>
            <a:ext cx="7427351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These are deliberately outside V1. The current product is complete for its job: </a:t>
            </a:r>
            <a:r>
              <a:rPr b="0" i="0" lang="en-US" sz="210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tracking, logging, and archiving reimbursements.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1143000" y="9496425"/>
            <a:ext cx="40958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Reimbursement Filer </a:t>
            </a: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· Sai Phaneendra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6927562" y="9496425"/>
            <a:ext cx="2936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9D96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A09D9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2103" y="9497223"/>
            <a:ext cx="293700" cy="293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